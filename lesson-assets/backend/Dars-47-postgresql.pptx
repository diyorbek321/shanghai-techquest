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PostgreSQL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25730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Python + 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4543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4-oy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86684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16-hafta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PostgreSQL — professional loyihalarning bazasi. Va SQL injection — eng mashhur hujum turi.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47/96 —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PostgreSQL o'rnatib, unga ulana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psycopg2 bilan so'rov bajara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SQL injection nima ekanini tushuntira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Parametrli so'rov bilan himoyalana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47/96 —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«SQLite»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Python + SQLite: ulanish, cursor, so'rov bajarish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(Python orqali jadval yaratib, ma'lumot qo'shish…)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47/96 —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Kuchli, bepul, ochiq kodli relational DB.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psycopg2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Python uchun PostgreSQL drayveri.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Connection string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Ulanish ma'lumotlari: host, db, user, password.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SQL injection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So'rovga zararli kod kiritish hujumi.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Parametrli so'rov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%s bilan qiymat uzatish — himoya.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with ulanish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Kontekst menejer — avtomatik commit/rollback.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47/96 —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PostgreSQL alohida server sifatida ishlaydi — SQLite'dan asosiy farqi shu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SQLite — fayl. PostgreSQL — doimiy ishlab turgan server.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Ko'p foydalanuvchi bir vaqtda ishlashi mumkin.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Kuchli turlar, JSON, to'liq matnli qidiruv.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Django, Flask va deyarli barcha jiddiy loyihalar shuni ishlatadi.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60546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60546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6A6A76"/>
                </a:solidFill>
                <a:latin typeface="DejaVu Sans Mono"/>
              </a:rPr>
              <a:t># O'rnatish (Ubuntu)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81975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81975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apt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install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postgresql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postgresql-contrib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503404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503404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724833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724833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6A6A76"/>
                </a:solidFill>
                <a:latin typeface="DejaVu Sans Mono"/>
              </a:rPr>
              <a:t># Baza va foydalanuvchi yaratish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946262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946262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-u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postgres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psql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167691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167691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CREATE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DATABASE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maktab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389120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389120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CREATE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dev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WITH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PASSWORD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'parol123'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610549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10549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GRANT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PRIVILEGES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ON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DATABASE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maktab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TO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dev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831978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831978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6EC27A"/>
                </a:solidFill>
                <a:latin typeface="DejaVu Sans Mono"/>
              </a:rPr>
              <a:t>\q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053407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053407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274836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274836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6A6A76"/>
                </a:solidFill>
                <a:latin typeface="DejaVu Sans Mono"/>
              </a:rPr>
              <a:t># Python drayveri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496265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496265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install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psycopg2-binary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47/96 —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SQL injection — foydalanuvchi kiritgan matn so'rovning bir qismiga aylanib qolishi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f-string bilan so'rov yozish — eng xavfli xato.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Foydalanuvchi ' OR '1'='1 yozsa — hamma ma'lumot ochiladi.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'; DROP TABLE talabalar; -- yozsa — jadval o'chadi.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Yechim: qiymatni HECH QACHON so'rovga yopishtirmang.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injection.py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164748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164748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6A6A76"/>
                </a:solidFill>
                <a:latin typeface="DejaVu Sans Mono"/>
              </a:rPr>
              <a:t># ✗ XAVFLI — hech qachon shunday yozmang!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368810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368810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Ism: 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554584"/>
            <a:ext cx="5367363" cy="20406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572872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572872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SELECT * FROM t WHERE ism = 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776934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776934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980996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980996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6A6A76"/>
                </a:solidFill>
                <a:latin typeface="DejaVu Sans Mono"/>
              </a:rPr>
              <a:t># Foydalanuvchi shuni yozsa: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185058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185058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6A6A76"/>
                </a:solidFill>
                <a:latin typeface="DejaVu Sans Mono"/>
              </a:rPr>
              <a:t>#   ' OR '1'='1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389120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389120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6A6A76"/>
                </a:solidFill>
                <a:latin typeface="DejaVu Sans Mono"/>
              </a:rPr>
              <a:t># So'rov shunday bo'ladi: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593182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593182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6A6A76"/>
                </a:solidFill>
                <a:latin typeface="DejaVu Sans Mono"/>
              </a:rPr>
              <a:t>#   SELECT * FROM t WHERE ism = '' OR '1'='1'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797244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797244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6A6A76"/>
                </a:solidFill>
                <a:latin typeface="DejaVu Sans Mono"/>
              </a:rPr>
              <a:t># → HAMMA ma'lumot qaytadi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5001306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5001306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5205368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5205368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6A6A76"/>
                </a:solidFill>
                <a:latin typeface="DejaVu Sans Mono"/>
              </a:rPr>
              <a:t># ✓ XAVFSIZ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5379" y="5391142"/>
            <a:ext cx="5367363" cy="20406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11683" y="5409430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409430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SELECT * FROM t WHERE ism = 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%s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Parametrli so'rovda drayver qiymatni to'g'ri qochiradi — u hech qachon kod bo'la olmaydi.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47/96 —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psycopg2 SQLite bilan deyarli bir xil ishlaydi — faqat %s ishlatiladi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SQLite: ? belgisi. PostgreSQL: %s belgisi.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Qolgani deyarli bir xil: connect, cursor, execute, commit.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with ulanish — xato bo'lsa avtomatik rollback qiladi.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Parolni koddan emas, .env fayldan oling (7-oyda batafsil).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psycopg2.py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psycopg2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2115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2115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psycopg2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extras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RealDictCursor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7964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7964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3814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3814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ULANISH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9664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9664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dbname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maktab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75513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75513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user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dev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91363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91363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password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parol123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07212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07212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host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localhost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23062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23062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38912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38912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65379" y="4529328"/>
            <a:ext cx="536736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11683" y="454761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54761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psycopg2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connect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ULANISH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70611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70611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cursor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cursor_factory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RealDictCursor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486460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486460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65379" y="5004816"/>
            <a:ext cx="536736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211683" y="502310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02310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SELECT * FROM talabalar WHERE yosh &gt;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%s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18160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18160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34009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34009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49859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49859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fetchall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65708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65708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yosh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47/96 —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Python'dan PostgreSQL'ga xavfsiz CRUD yozamiz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db.py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psycopg2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psycopg2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extras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RealDictCursor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ULANISH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dbname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maktab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dev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password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parol123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host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localhost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ulan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psycopg2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connect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ULANISH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str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"""Yangi talaba qo'shadi va id sini qaytaradi."""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ulan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cursor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INSERT INTO talabalar (ism, yosh)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" y="564944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VALUES 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%s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,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%s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) RETURNING id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" y="578470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fetchone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qidir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namuna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str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list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dict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ulan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\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cursor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cursor_factory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RealDictCursor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8952" y="700198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SELECT * FROM talabalar WHERE ism ILIKE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%s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58952" y="713724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%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namuna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%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fetchall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5256" y="783180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16152" y="783180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yangi_id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Aziza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16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5256" y="796705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16152" y="796705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Qo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shildi: id=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yangi_id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5256" y="810230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16152" y="810230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5256" y="823756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16152" y="823756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qidir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az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05256" y="837281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16152" y="837281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21-satr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RETURNING id — PostgreSQL'ning qulay imkoniyati: yangi yozuvning id'sini darhol qaytaradi.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22-satr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(ism, yosh) — parametrlar alohida uzatiladi. SQL injection mumkin emas.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31-satr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ILIKE — katta-kichik harfni farqlamaydigan LIKE (PostgreSQL).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32-satr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% belgilari PARAMETR ichida — so'rov matnida emas. Bu ham xavfsiz.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47/96 —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Foydalanuvchi ism o'rniga ' OR '1'='1 yozsa, f-string bilan yozilgan so'rov nima qaytaradi?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46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46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6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36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6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66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366" b="0" i="0">
                <a:solidFill>
                  <a:srgbClr val="6EC27A"/>
                </a:solidFill>
                <a:latin typeface="DejaVu Sans Mono"/>
              </a:rPr>
              <a:t> OR </a:t>
            </a:r>
            <a:r>
              <a:rPr sz="1366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366" b="0" i="0">
                <a:solidFill>
                  <a:srgbClr val="6EC27A"/>
                </a:solidFill>
                <a:latin typeface="DejaVu Sans Mono"/>
              </a:rPr>
              <a:t>1</a:t>
            </a:r>
            <a:r>
              <a:rPr sz="1366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366" b="0" i="0">
                <a:solidFill>
                  <a:srgbClr val="6EC27A"/>
                </a:solidFill>
                <a:latin typeface="DejaVu Sans Mono"/>
              </a:rPr>
              <a:t>=</a:t>
            </a:r>
            <a:r>
              <a:rPr sz="1366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366" b="0" i="0">
                <a:solidFill>
                  <a:srgbClr val="6EC27A"/>
                </a:solidFill>
                <a:latin typeface="DejaVu Sans Mono"/>
              </a:rPr>
              <a:t>1</a:t>
            </a:r>
            <a:r>
              <a:rPr sz="1366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74780"/>
            <a:ext cx="219456" cy="246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74780"/>
            <a:ext cx="5525847" cy="246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6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36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66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136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66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36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66" b="0" i="0">
                <a:solidFill>
                  <a:srgbClr val="6EC27A"/>
                </a:solidFill>
                <a:latin typeface="DejaVu Sans Mono"/>
              </a:rPr>
              <a:t>SELECT * FROM t WHERE ism = </a:t>
            </a:r>
            <a:r>
              <a:rPr sz="1366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366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366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366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366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36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6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Hech nima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Faqat mos kelganlarni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BARCHA yozuvlarni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 beradi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47/96 —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6A6A76"/>
                </a:solidFill>
                <a:latin typeface="DejaVu Sans Mono"/>
              </a:rPr>
              <a:t># XAVFLI variant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37309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37309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8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58" b="0" i="0">
                <a:solidFill>
                  <a:srgbClr val="6EC27A"/>
                </a:solidFill>
                <a:latin typeface="DejaVu Sans Mono"/>
              </a:rPr>
              <a:t> OR </a:t>
            </a:r>
            <a:r>
              <a:rPr sz="1158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58" b="0" i="0">
                <a:solidFill>
                  <a:srgbClr val="6EC27A"/>
                </a:solidFill>
                <a:latin typeface="DejaVu Sans Mono"/>
              </a:rPr>
              <a:t>1</a:t>
            </a:r>
            <a:r>
              <a:rPr sz="1158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58" b="0" i="0">
                <a:solidFill>
                  <a:srgbClr val="6EC27A"/>
                </a:solidFill>
                <a:latin typeface="DejaVu Sans Mono"/>
              </a:rPr>
              <a:t>=</a:t>
            </a:r>
            <a:r>
              <a:rPr sz="1158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58" b="0" i="0">
                <a:solidFill>
                  <a:srgbClr val="6EC27A"/>
                </a:solidFill>
                <a:latin typeface="DejaVu Sans Mono"/>
              </a:rPr>
              <a:t>1</a:t>
            </a:r>
            <a:r>
              <a:rPr sz="1158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46202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46202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FFFFFF"/>
                </a:solidFill>
                <a:latin typeface="DejaVu Sans Mono"/>
              </a:rPr>
              <a:t>sorov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15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8" b="0" i="0">
                <a:solidFill>
                  <a:srgbClr val="6EC27A"/>
                </a:solidFill>
                <a:latin typeface="DejaVu Sans Mono"/>
              </a:rPr>
              <a:t>SELECT * FROM t WHERE ism = </a:t>
            </a:r>
            <a:r>
              <a:rPr sz="1158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5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15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158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58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55095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55095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sorov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63988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63988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72881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72881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6A6A76"/>
                </a:solidFill>
                <a:latin typeface="DejaVu Sans Mono"/>
              </a:rPr>
              <a:t># XAVFSIZ variant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581774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581774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8" b="0" i="0">
                <a:solidFill>
                  <a:srgbClr val="6EC27A"/>
                </a:solidFill>
                <a:latin typeface="DejaVu Sans Mono"/>
              </a:rPr>
              <a:t>SELECT * FROM t WHERE ism = </a:t>
            </a:r>
            <a:r>
              <a:rPr sz="1158" b="0" i="0">
                <a:solidFill>
                  <a:srgbClr val="6EC27A"/>
                </a:solidFill>
                <a:latin typeface="DejaVu Sans Mono"/>
              </a:rPr>
              <a:t>%s</a:t>
            </a:r>
            <a:r>
              <a:rPr sz="115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SELECT * FROM t WHERE ism = '' OR '1'='1'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→ 10 000 qator qaytdi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→ 0 qator qaytdi (bunday ismli talaba yo'q)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f-string kiritilgan matnni SO'ROVGA aylantirdi — '1'='1' har doim rost, hamma ma'lumot ochildi. Parametrli variant esa uni oddiy MATN deb qabul qildi.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47/96 —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xavfsiz so'rov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48573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48573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89815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89815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531057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531057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33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3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37" b="0" i="0">
                <a:solidFill>
                  <a:srgbClr val="6EC27A"/>
                </a:solidFill>
                <a:latin typeface="DejaVu Sans Mono"/>
              </a:rPr>
              <a:t>Ism: </a:t>
            </a:r>
            <a:r>
              <a:rPr sz="133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3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772299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772299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013541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013541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6A6A76"/>
                </a:solidFill>
                <a:latin typeface="DejaVu Sans Mono"/>
              </a:rPr>
              <a:t># ✗ Hech qachon shunday emas: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254783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254783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6A6A76"/>
                </a:solidFill>
                <a:latin typeface="DejaVu Sans Mono"/>
              </a:rPr>
              <a:t># k.execute(f"SELECT * FROM t WHERE ism = '{ism}'")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496025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496025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737267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737267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6A6A76"/>
                </a:solidFill>
                <a:latin typeface="DejaVu Sans Mono"/>
              </a:rPr>
              <a:t># ✓ To'g'ri: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978509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978509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33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133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3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37" b="0" i="0">
                <a:solidFill>
                  <a:srgbClr val="6EC27A"/>
                </a:solidFill>
                <a:latin typeface="DejaVu Sans Mono"/>
              </a:rPr>
              <a:t>SELECT * FROM t WHERE ism = __</a:t>
            </a:r>
            <a:r>
              <a:rPr sz="133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3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33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3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3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219751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219751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460993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460993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33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________</a:t>
            </a:r>
            <a:r>
              <a:rPr sz="133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3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PostgreSQL drayveri nomi — oxirida raqam bor.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PostgreSQL'da parametr belgisi — 2 belgi (SQLite'da ? edi).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Parametrlar tuple bo'lib uzatiladi — vergulni unutmang.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47/96 —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Ism: 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4583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4583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SELECT * FROM t WHERE ism = 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Parametrli so'rovga aylantiring.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ILIKE bilan qisman qidiruv qo'shing.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with ulanish bilan o'rab, avtomatik commit qiling.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47/96 —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PostgreSQL o'rnatib, baza va foydalanuvchi yarating.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Python'dan ulanib, jadval yarating va 3 ta yozuv qo'shing.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To'liq CRUD yozing — barcha so'rovlar parametrli bo'lsin.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47/96 —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k.execute(f"... WHERE id = {user_id}")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k.execute("... WHERE id = %s", (user_id,))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f-string bilan so'rov — SQL injection. Hech qachon ishlatmang.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k.execute("... WHERE id = ?", (1,))  # psycopg2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k.execute("... WHERE id = %s", (1,))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SQLite'da ?, PostgreSQL'da %s ishlatiladi.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password = "parol123"  # kodda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password = os.environ["DB_PASSWORD"]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Parolni koddan chiqaring — GitHub'ga tushib ketadi.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47/96 —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SQL injection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Undan qanday himoyalanamiz?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SQLite va PostgreSQL'da parametr belgisi qanday?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commit() nima uchun kerak?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46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Normalizatsiya nima?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47/96 —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PostgreSQL — server. SQLite — fayl. Kod deyarli bir xil.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SQL injection — f-string bilan so'rov yozishdan kelib chiqadi.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Qiymatni HECH QACHON so'rovga yopishtirmang: execute(sql, (qiymat,))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+ DB · Dars 47/96 —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Python'dan PostgreSQL'ga CRUD amallari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46: SQLite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44: Guruhlash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35: PEP8 &amp; Type hints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DB loyiha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Endi baza bilan ishlashni bilamiz. 4-oy loyihasida qanday ilova yozamiz?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47: PostgreSQL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Python + DB</cp:category>
</cp:coreProperties>
</file>