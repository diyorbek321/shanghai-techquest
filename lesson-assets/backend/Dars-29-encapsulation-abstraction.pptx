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8168335" y="0"/>
            <a:ext cx="4023360" cy="68580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5" name="Picture 4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8455" y="141732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68335" y="3886200"/>
            <a:ext cx="402336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Montserrat"/>
              </a:rPr>
              <a:t>Shanghai School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68335" y="4224528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9AA6"/>
                </a:solidFill>
                <a:latin typeface="Montserrat"/>
              </a:rPr>
              <a:t>Angren · IT yo'nalishi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88720"/>
            <a:ext cx="707105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PYTHON BACKEND DASTURLASH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91640"/>
            <a:ext cx="7071055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 i="0">
                <a:solidFill>
                  <a:srgbClr val="2A2A2E"/>
                </a:solidFill>
                <a:latin typeface="Montserrat"/>
              </a:rPr>
              <a:t>DARS 29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88920"/>
            <a:ext cx="7071055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Encapsulation &amp; Abstraction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60120" y="4498848"/>
            <a:ext cx="1371600" cy="2857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960120" y="4846320"/>
            <a:ext cx="63550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OOP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723644" y="4846320"/>
            <a:ext cx="713232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3-oy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4892" y="4846320"/>
            <a:ext cx="1024128" cy="274320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A9AA6"/>
                </a:solidFill>
                <a:latin typeface="Montserrat"/>
              </a:rPr>
              <a:t>10-hafta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623560"/>
            <a:ext cx="707105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Encapsulation — ma'lumotni himoyalash. Balansni faqat belgilangan yo'l bilan o'zgartirish mumkin bo'lsin.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BUGUNGI MAQSAD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Dars oxirida siz quyidagilarni qila olasiz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978408" y="273177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63624" y="251460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Private atribut belgilash konvensiyasini bilasiz (_ va __).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40614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685800" y="340614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Oval 15"/>
          <p:cNvSpPr/>
          <p:nvPr/>
        </p:nvSpPr>
        <p:spPr>
          <a:xfrm>
            <a:off x="978408" y="362331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63624" y="340614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@property bilan getter yoza olasiz.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8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85800" y="429768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978408" y="451485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63624" y="429768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@x.setter bilan tekshiruvli yozish qila olasiz.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89220"/>
            <a:ext cx="10820095" cy="80010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5189220"/>
            <a:ext cx="41148" cy="8001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978408" y="5406390"/>
            <a:ext cx="365760" cy="365760"/>
          </a:xfrm>
          <a:prstGeom prst="ellipse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3624" y="5189220"/>
            <a:ext cx="9539935" cy="8001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Montserrat"/>
              </a:rPr>
              <a:t>Abstraksiya g'oyasini tushuntira olasiz.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ESLAYMIZ · 3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Avval o'tgan darsni eslaymiz — daftarga javob yozing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14984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4984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O'tgan darsda «Inheritance (meros)» ni o'rgandik. Uni 2 gapda tushuntiring.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02226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402226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731410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1410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Bir classdan boshqasiga meros. super() — bu nima degani?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8652" y="2606040"/>
            <a:ext cx="3387242" cy="30175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118652" y="2606040"/>
            <a:ext cx="3387242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447836" y="2990088"/>
            <a:ext cx="2728874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2A2A2E"/>
                </a:solidFill>
                <a:latin typeface="Montserrat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47836" y="3657600"/>
            <a:ext cx="2728874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Uy vazifasida qanday qiyinchilikka duch keldingiz? ('Odam' → 'Talaba' meros zanjirini tuzish…)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897880"/>
            <a:ext cx="1082009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6A6A76"/>
                </a:solidFill>
                <a:latin typeface="Montserrat"/>
              </a:rPr>
              <a:t>Javobni ovoz chiqarib emas — yozib javob bering. Yozish xotirani mustahkamlaydi.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KALIT ATAMALAR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Yangi mavzuga kirishdan oldin — shu so'zlarni bilib olamiz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60120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Encapsulation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Ichki ma'lumotni yashirish va himoyalash.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64354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_atribut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4354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«Bu ichki, tegmang» — konvensiya, Python majburlamaydi.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468880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468880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68588" y="2670048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__atribut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8588" y="3035808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Name mangling — tashqaridan murojaat qiyinlashadi.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85800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60120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@property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Metodni atribut kabi o'qish imkonini beradi.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90034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4390034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664354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@x.setter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4354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Atributga yozishda tekshiruv qo'yish.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94268" y="4142232"/>
            <a:ext cx="3411626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ectangle 30"/>
          <p:cNvSpPr/>
          <p:nvPr/>
        </p:nvSpPr>
        <p:spPr>
          <a:xfrm>
            <a:off x="8094268" y="4142232"/>
            <a:ext cx="41148" cy="141732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368588" y="4343400"/>
            <a:ext cx="289956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Abstraksiya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68588" y="4709160"/>
            <a:ext cx="2899562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9A9AA6"/>
                </a:solidFill>
                <a:latin typeface="Montserrat"/>
              </a:rPr>
              <a:t>Faqat kerakli interfeysni ko'rsatish, ichini yashirish.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Python'da haqiqiy private yo'q — bu kelishuv asosida ishlaydi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_balans — «bu ichki, tegmaslikni so'raymiz». Kelishuv.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__balans — Python nomni o'zgartiradi, murojaat qiyinlashadi.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Ikkalasini ham chetlab o'tsa bo'ladi — lekin o'tilmaydi.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Maqsad — himoya emas, ANIQ MULOQOT: «bu API emas».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private.py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3284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3284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5211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5211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65379" y="3695578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211683" y="37138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22579" y="37138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ichki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65379" y="3888303"/>
            <a:ext cx="5367363" cy="1927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211683" y="39065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9065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__pin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1234</a:t>
            </a:r>
            <a:r>
              <a:rPr sz="106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yanada yopiq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40993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40993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42920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42920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48476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48476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1683" y="467749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2579" y="467749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ishlaydi (lekin yomon uslub)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1683" y="4870216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2579" y="4870216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6A6A76"/>
                </a:solidFill>
                <a:latin typeface="DejaVu Sans Mono"/>
              </a:rPr>
              <a:t># print(h.__pin)        ← AttributeError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1683" y="5062941"/>
            <a:ext cx="219456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3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2579" y="5062941"/>
            <a:ext cx="4763859" cy="192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_Hisob__pin</a:t>
            </a:r>
            <a:r>
              <a:rPr sz="106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6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68" b="0" i="0">
                <a:solidFill>
                  <a:srgbClr val="6A6A76"/>
                </a:solidFill>
                <a:latin typeface="DejaVu Sans Mono"/>
              </a:rPr>
              <a:t># chetlab o'tish mumkin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@property metodni atribut kabi o'qish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@property ustiga qo'yilgan metod qavssiz chaqiriladi.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h.balans (qavssiz!) — lekin orqada metod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Hisoblanadigan qiymatlar uchun ideal: to'liq_ism, yosh.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Faqat @property bo'lsa — atribut read-only bo'ladi.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property.py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321094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321094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40731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40731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60367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60367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balans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80003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80003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65379" y="3978108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211683" y="399639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22579" y="399639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1683" y="419275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22579" y="419275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1683" y="438912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2579" y="438912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_balans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1683" y="4585482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2579" y="4585482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1683" y="4781844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781844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978206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978206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5156280"/>
            <a:ext cx="5367363" cy="196362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5174568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5174568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08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08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088" b="0" i="0">
                <a:solidFill>
                  <a:srgbClr val="6A6A76"/>
                </a:solidFill>
                <a:latin typeface="DejaVu Sans Mono"/>
              </a:rPr>
              <a:t># qavssiz — 1000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5370930"/>
            <a:ext cx="219456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49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5370930"/>
            <a:ext cx="4763859" cy="19636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88" b="0" i="0">
                <a:solidFill>
                  <a:srgbClr val="6A6A76"/>
                </a:solidFill>
                <a:latin typeface="DejaVu Sans Mono"/>
              </a:rPr>
              <a:t># h.balans = 5000      ← AttributeError (setter yo'q)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NAZARIYA ·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@setter yozishda tekshiruv qo'yish imkonini beradi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487168"/>
            <a:ext cx="4977243" cy="35478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@balans.setter — h.balans = x yozilganda ishlaydi.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Ichida shart qo'yib, noto'g'ri qiymatni rad etamiz.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Foydalanuvchi kodini o'zgartirmasdan himoya qo'shildi.</a:t>
            </a:r>
          </a:p>
          <a:p>
            <a:pPr algn="l" marL="274320" indent="-274320">
              <a:lnSpc>
                <a:spcPct val="135000"/>
              </a:lnSpc>
              <a:spcBef>
                <a:spcPts val="0"/>
              </a:spcBef>
              <a:spcAft>
                <a:spcPts val="1300"/>
              </a:spcAft>
            </a:pPr>
            <a:r>
              <a:rPr sz="1700" b="1" i="0">
                <a:solidFill>
                  <a:srgbClr val="C9A961"/>
                </a:solidFill>
                <a:latin typeface="Montserrat"/>
              </a:rPr>
              <a:t>▸  </a:t>
            </a:r>
            <a:r>
              <a:rPr sz="1700" b="0" i="0">
                <a:solidFill>
                  <a:srgbClr val="FFFFFF"/>
                </a:solidFill>
                <a:latin typeface="Montserrat"/>
              </a:rPr>
              <a:t>raise bilan xato ko'tarish mumkin (24-dars).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92227" y="2487168"/>
            <a:ext cx="551366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211683" y="2633472"/>
            <a:ext cx="50747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setter.py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1683" y="296265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22579" y="296265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1683" y="312115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22579" y="312115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1683" y="327964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22579" y="327964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balans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1683" y="343814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22579" y="343814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1683" y="359664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22579" y="359664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1683" y="375513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22579" y="375513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1683" y="391363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22579" y="391363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_balans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1683" y="407212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2579" y="407212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65379" y="4212336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211683" y="423062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2579" y="423062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@balans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setter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1683" y="438912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2579" y="438912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65379" y="4529328"/>
            <a:ext cx="5367363" cy="158496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211683" y="454761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22579" y="454761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1683" y="470611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22579" y="470611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878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Balans manfiy bo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lmaydi</a:t>
            </a:r>
            <a:r>
              <a:rPr sz="878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211683" y="486460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22579" y="486460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qiymat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1683" y="5023104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22579" y="5023104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211683" y="5181600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22579" y="5181600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211683" y="5340096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522579" y="5340096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1683" y="5498592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522579" y="5498592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878" b="0" i="0">
                <a:solidFill>
                  <a:srgbClr val="C9A961"/>
                </a:solidFill>
                <a:latin typeface="DejaVu Sans Mono"/>
              </a:rPr>
              <a:t>5000</a:t>
            </a:r>
            <a:r>
              <a:rPr sz="878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878" b="0" i="0">
                <a:solidFill>
                  <a:srgbClr val="6A6A76"/>
                </a:solidFill>
                <a:latin typeface="DejaVu Sans Mono"/>
              </a:rPr>
              <a:t># ishlaydi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11683" y="5657088"/>
            <a:ext cx="219456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6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22579" y="5657088"/>
            <a:ext cx="4763859" cy="158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78" b="0" i="0">
                <a:solidFill>
                  <a:srgbClr val="6A6A76"/>
                </a:solidFill>
                <a:latin typeface="DejaVu Sans Mono"/>
              </a:rPr>
              <a:t># h.balans = -100      ← ValueError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ISHLANGAN NAMUNA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Balansi himoyalangan bank hisobini quramiz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47872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bank.py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BankHisobi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09791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09791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"""Balansi himoyalangan bank hisobi."""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23316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23316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36841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36841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egasi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50367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50367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egasi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egasi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363892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363892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balans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377418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377418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_tarix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[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390943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390943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8952" y="4026400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905256" y="404468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16152" y="404468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" y="417994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6152" y="417994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5256" y="431519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16152" y="431519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_balans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" y="445045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16152" y="445045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58952" y="4567416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905256" y="458570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6152" y="458570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472095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16152" y="472095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58952" y="483792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05256" y="485621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16152" y="485621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Summa musbat bo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lsin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" y="499146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16152" y="499146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256" y="512672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216152" y="512672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_tarix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+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5256" y="526197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16152" y="526197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5256" y="539722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19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16152" y="539722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yechish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05256" y="553248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16152" y="553248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&gt;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05256" y="566773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16152" y="566773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750" b="0" i="0">
                <a:solidFill>
                  <a:srgbClr val="E5C87A"/>
                </a:solidFill>
                <a:latin typeface="DejaVu Sans Mono"/>
              </a:rPr>
              <a:t>raise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Mablag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'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 yetarli emas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5256" y="580299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216152" y="580299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_balans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05256" y="593824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23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216152" y="593824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_tarix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append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f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-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{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summa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}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05256" y="607349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216152" y="607349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05256" y="620875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25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16152" y="620875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05256" y="6344006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26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216152" y="6344006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BankHisobi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Ali</a:t>
            </a:r>
            <a:r>
              <a:rPr sz="750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1000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5256" y="6479260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27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216152" y="6479260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qoshish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500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905256" y="6614514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216152" y="6614514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yechish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C9A961"/>
                </a:solidFill>
                <a:latin typeface="DejaVu Sans Mono"/>
              </a:rPr>
              <a:t>200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05256" y="6749768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29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216152" y="6749768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h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75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75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750" b="0" i="0">
                <a:solidFill>
                  <a:srgbClr val="6A6A76"/>
                </a:solidFill>
                <a:latin typeface="DejaVu Sans Mono"/>
              </a:rPr>
              <a:t># 1300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" y="6866734"/>
            <a:ext cx="6345753" cy="135254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4" name="TextBox 73"/>
          <p:cNvSpPr txBox="1"/>
          <p:nvPr/>
        </p:nvSpPr>
        <p:spPr>
          <a:xfrm>
            <a:off x="905256" y="6885022"/>
            <a:ext cx="219456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585" b="0" i="0">
                <a:solidFill>
                  <a:srgbClr val="6A6A76"/>
                </a:solidFill>
                <a:latin typeface="DejaVu Sans Mono"/>
              </a:rPr>
              <a:t>30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216152" y="6885022"/>
            <a:ext cx="5742249" cy="13525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50" b="0" i="0">
                <a:solidFill>
                  <a:srgbClr val="6A6A76"/>
                </a:solidFill>
                <a:latin typeface="DejaVu Sans Mono"/>
              </a:rPr>
              <a:t># h.balans = 999999    ← AttributeError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7507041" y="2487168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7" name="Rectangle 76"/>
          <p:cNvSpPr/>
          <p:nvPr/>
        </p:nvSpPr>
        <p:spPr>
          <a:xfrm>
            <a:off x="7507041" y="2487168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8" name="TextBox 77"/>
          <p:cNvSpPr txBox="1"/>
          <p:nvPr/>
        </p:nvSpPr>
        <p:spPr>
          <a:xfrm>
            <a:off x="7744785" y="2615184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9-satr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44785" y="2871216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@property — o'qish mumkin, lekin setter yo'q → yozib bo'lmaydi.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7507041" y="3410712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1" name="Rectangle 80"/>
          <p:cNvSpPr/>
          <p:nvPr/>
        </p:nvSpPr>
        <p:spPr>
          <a:xfrm>
            <a:off x="7507041" y="3410712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2" name="TextBox 81"/>
          <p:cNvSpPr txBox="1"/>
          <p:nvPr/>
        </p:nvSpPr>
        <p:spPr>
          <a:xfrm>
            <a:off x="7744785" y="3538728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13-satr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44785" y="3794760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Balansni o'zgartirishning YAGONA yo'li — shu metodlar.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7507041" y="4334256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5" name="Rectangle 84"/>
          <p:cNvSpPr/>
          <p:nvPr/>
        </p:nvSpPr>
        <p:spPr>
          <a:xfrm>
            <a:off x="7507041" y="4334256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6" name="TextBox 85"/>
          <p:cNvSpPr txBox="1"/>
          <p:nvPr/>
        </p:nvSpPr>
        <p:spPr>
          <a:xfrm>
            <a:off x="7744785" y="4462272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15-satr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44785" y="4718304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raise — xatoni ko'taradi. Chaqiruvchi try/except bilan tutadi.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7507041" y="5257800"/>
            <a:ext cx="3998854" cy="777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9" name="Rectangle 88"/>
          <p:cNvSpPr/>
          <p:nvPr/>
        </p:nvSpPr>
        <p:spPr>
          <a:xfrm>
            <a:off x="7507041" y="5257800"/>
            <a:ext cx="41148" cy="77724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0" name="TextBox 89"/>
          <p:cNvSpPr txBox="1"/>
          <p:nvPr/>
        </p:nvSpPr>
        <p:spPr>
          <a:xfrm>
            <a:off x="7744785" y="5385816"/>
            <a:ext cx="35416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30-satr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7744785" y="5641848"/>
            <a:ext cx="3541654" cy="265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Balansni to'g'ridan-to'g'ri o'zgartirib bo'lmaydi — himoya ishladi.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P — PREDICT · BASHORAT QILING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Oxirgi satr nima qiladi?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275655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83674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bu kodni o'qing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022859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022859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93368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93368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563877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563877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83438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34386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410489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104895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37540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375404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645913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645913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916422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916422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186931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186931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457440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457440"/>
            <a:ext cx="5525847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90639" y="2487168"/>
            <a:ext cx="421525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C9A961"/>
                </a:solidFill>
                <a:latin typeface="Montserrat"/>
              </a:rPr>
              <a:t>VARIANTLAR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90639" y="2926080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510095" y="2926080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94143" y="2926080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_x = 10 bo'ladi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290639" y="3728466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10095" y="3728466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94143" y="3728466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AttributeError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90639" y="4530852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510095" y="4530852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94143" y="4530852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Yangi x atributi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90639" y="5333238"/>
            <a:ext cx="4215255" cy="67437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510095" y="5333238"/>
            <a:ext cx="365760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894143" y="5333238"/>
            <a:ext cx="3374007" cy="67437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DejaVu Sans Mono"/>
              </a:rPr>
              <a:t>Hech nima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EC27A"/>
                </a:solidFill>
                <a:latin typeface="Montserrat"/>
              </a:rPr>
              <a:t>R — RUN · NATIJANI TEKSHIRAMIZ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ishga tushiramiz — natija shu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5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57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219520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219520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476383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476383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_x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733246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733246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990109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990109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@property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246972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246972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503835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503835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424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_x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760698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760698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5017561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5017561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5274424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5274424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7AB8E0"/>
                </a:solidFill>
                <a:latin typeface="DejaVu Sans Mono"/>
              </a:rPr>
              <a:t>print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531287"/>
            <a:ext cx="219456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1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531287"/>
            <a:ext cx="4876641" cy="2568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24" b="0" i="0">
                <a:solidFill>
                  <a:srgbClr val="FFFFFF"/>
                </a:solidFill>
                <a:latin typeface="DejaVu Sans Mono"/>
              </a:rPr>
              <a:t>c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x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424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424" b="0" i="0">
                <a:solidFill>
                  <a:srgbClr val="C9A961"/>
                </a:solidFill>
                <a:latin typeface="DejaVu Sans Mono"/>
              </a:rPr>
              <a:t>10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41433" y="2487168"/>
            <a:ext cx="4864461" cy="1971446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6879177" y="2633472"/>
            <a:ext cx="438897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6EC27A"/>
                </a:solidFill>
                <a:latin typeface="Montserrat"/>
              </a:rPr>
              <a:t>TERMINAL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79177" y="2962656"/>
            <a:ext cx="4388973" cy="13313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5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AttributeError: property 'x' of 'C' object has no setter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41433" y="4659782"/>
            <a:ext cx="4864461" cy="1347825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ectangle 37"/>
          <p:cNvSpPr/>
          <p:nvPr/>
        </p:nvSpPr>
        <p:spPr>
          <a:xfrm>
            <a:off x="6641433" y="4659782"/>
            <a:ext cx="41148" cy="1347825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879177" y="4806086"/>
            <a:ext cx="4388973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C9A961"/>
                </a:solidFill>
                <a:latin typeface="Montserrat"/>
              </a:rPr>
              <a:t>NIMA UCHUN?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79177" y="5080406"/>
            <a:ext cx="4388973" cy="78089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Montserrat"/>
              </a:rPr>
              <a:t>@property faqat o'qish uchun getter yaratdi. Setter yozilmagani uchun yozish urinishi rad etildi. Bu — read-only atribut.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TO'LDIRING · YORDAMSIZ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Bo'sh joylarni to'ldiring — himoya ishlasin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6492057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605314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to'ldirilishi kerak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296266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296266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Harorat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18000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18000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0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39735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39735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_qiymat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" y="361469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61469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" y="383204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383204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@________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" y="404938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6152" y="404938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" y="426673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426673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return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_qiymat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" y="448407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16152" y="448407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" y="470142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16152" y="470142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@qiymat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______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5256" y="491876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6152" y="491876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qiymat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" y="513611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16152" y="513611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E5C87A"/>
                </a:solidFill>
                <a:latin typeface="DejaVu Sans Mono"/>
              </a:rPr>
              <a:t>if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yangi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&lt;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-</a:t>
            </a:r>
            <a:r>
              <a:rPr sz="1205" b="0" i="0">
                <a:solidFill>
                  <a:srgbClr val="C9A961"/>
                </a:solidFill>
                <a:latin typeface="DejaVu Sans Mono"/>
              </a:rPr>
              <a:t>273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" y="5353456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16152" y="5353456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   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_____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ValueError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Juda past</a:t>
            </a:r>
            <a:r>
              <a:rPr sz="1205" b="0" i="0">
                <a:solidFill>
                  <a:srgbClr val="6EC27A"/>
                </a:solidFill>
                <a:latin typeface="DejaVu Sans Mono"/>
              </a:rPr>
              <a:t>"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" y="5570801"/>
            <a:ext cx="219456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40" b="0" i="0">
                <a:solidFill>
                  <a:srgbClr val="6A6A76"/>
                </a:solidFill>
                <a:latin typeface="DejaVu Sans Mono"/>
              </a:rPr>
              <a:t>13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16152" y="5570801"/>
            <a:ext cx="5742249" cy="2173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5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205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_qiymat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205" b="0" i="0">
                <a:solidFill>
                  <a:srgbClr val="FFFFFF"/>
                </a:solidFill>
                <a:latin typeface="DejaVu Sans Mono"/>
              </a:rPr>
              <a:t>yangi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07041" y="2487168"/>
            <a:ext cx="3998854" cy="35204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Rectangle 38"/>
          <p:cNvSpPr/>
          <p:nvPr/>
        </p:nvSpPr>
        <p:spPr>
          <a:xfrm>
            <a:off x="7507041" y="2487168"/>
            <a:ext cx="41148" cy="3520440"/>
          </a:xfrm>
          <a:prstGeom prst="rect">
            <a:avLst/>
          </a:prstGeom>
          <a:solidFill>
            <a:srgbClr val="A889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781361" y="2706624"/>
            <a:ext cx="3450214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IP UCHI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81361" y="3090672"/>
            <a:ext cx="3450214" cy="26609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1-bo'sh joy: getter yaratadigan dekorator nomi.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2-bo'sh joy: yozishni boshqaradigan dekorator turi.</a:t>
            </a:r>
          </a:p>
          <a:p>
            <a:pPr algn="l" marL="146304" indent="-146304">
              <a:lnSpc>
                <a:spcPct val="132000"/>
              </a:lnSpc>
              <a:spcBef>
                <a:spcPts val="0"/>
              </a:spcBef>
              <a:spcAft>
                <a:spcPts val="1100"/>
              </a:spcAft>
            </a:pPr>
            <a:r>
              <a:rPr sz="1400" b="1" i="0">
                <a:solidFill>
                  <a:srgbClr val="C9A961"/>
                </a:solidFill>
                <a:latin typeface="Montserrat"/>
              </a:rPr>
              <a:t>·  </a:t>
            </a:r>
            <a:r>
              <a:rPr sz="1400" b="0" i="0">
                <a:solidFill>
                  <a:srgbClr val="FFFFFF"/>
                </a:solidFill>
                <a:latin typeface="Montserrat"/>
              </a:rPr>
              <a:t>3-bo'sh joy: xatoni ko'taradigan kalit so'z.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MODIFY · O'ZGARTIRING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Tayyor kodni o'zgartirib ko'ring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5626449" cy="3520440"/>
          </a:xfrm>
          <a:prstGeom prst="roundRect">
            <a:avLst>
              <a:gd name="adj" fmla="val 4500"/>
            </a:avLst>
          </a:prstGeom>
          <a:solidFill>
            <a:srgbClr val="0F0F14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05256" y="2633472"/>
            <a:ext cx="5187537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A6A76"/>
                </a:solidFill>
                <a:latin typeface="Montserrat"/>
              </a:rPr>
              <a:t>boshlang'ich kod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" y="3328416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16152" y="3328416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E5C87A"/>
                </a:solidFill>
                <a:latin typeface="DejaVu Sans Mono"/>
              </a:rPr>
              <a:t>class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Hisob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" y="3598925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3598925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</a:t>
            </a:r>
            <a:r>
              <a:rPr sz="1500" b="0" i="0">
                <a:solidFill>
                  <a:srgbClr val="E5C87A"/>
                </a:solidFill>
                <a:latin typeface="DejaVu Sans Mono"/>
              </a:rPr>
              <a:t>def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__init__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(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,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)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" y="3869434"/>
            <a:ext cx="219456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70" b="0" i="0">
                <a:solidFill>
                  <a:srgbClr val="6A6A76"/>
                </a:solidFill>
                <a:latin typeface="DejaVu Sans Mono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6152" y="3869434"/>
            <a:ext cx="4876641" cy="27050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i="0">
                <a:solidFill>
                  <a:srgbClr val="FFFFFF"/>
                </a:solidFill>
                <a:latin typeface="DejaVu Sans Mono"/>
              </a:rPr>
              <a:t>        </a:t>
            </a:r>
            <a:r>
              <a:rPr sz="1500" b="0" i="0">
                <a:solidFill>
                  <a:srgbClr val="7AB8E0"/>
                </a:solidFill>
                <a:latin typeface="DejaVu Sans Mono"/>
              </a:rPr>
              <a:t>self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.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balans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9A9AA6"/>
                </a:solidFill>
                <a:latin typeface="DejaVu Sans Mono"/>
              </a:rPr>
              <a:t>=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 </a:t>
            </a:r>
            <a:r>
              <a:rPr sz="1500" b="0" i="0">
                <a:solidFill>
                  <a:srgbClr val="FFFFFF"/>
                </a:solidFill>
                <a:latin typeface="DejaVu Sans Mono"/>
              </a:rPr>
              <a:t>balans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41433" y="2487168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6641433" y="2487168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897465" y="2487168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6377" y="2487168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balans ni _balans ga o'zgartirib, @property qo'shing.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41433" y="3709416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ctangle 22"/>
          <p:cNvSpPr/>
          <p:nvPr/>
        </p:nvSpPr>
        <p:spPr>
          <a:xfrm>
            <a:off x="6641433" y="3709416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897465" y="3709416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36377" y="3709416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@setter qo'shing — manfiy qiymatni rad etsin.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41433" y="4931664"/>
            <a:ext cx="4864461" cy="1075944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ectangle 26"/>
          <p:cNvSpPr/>
          <p:nvPr/>
        </p:nvSpPr>
        <p:spPr>
          <a:xfrm>
            <a:off x="6641433" y="4931664"/>
            <a:ext cx="41148" cy="1075944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97465" y="4931664"/>
            <a:ext cx="402336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36377" y="4931664"/>
            <a:ext cx="3931773" cy="10759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FFFFFF"/>
                </a:solidFill>
                <a:latin typeface="Montserrat"/>
              </a:rPr>
              <a:t>qoshish() va yechish() metodlarini qo'shing.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5C87A"/>
                </a:solidFill>
                <a:latin typeface="Montserrat"/>
              </a:rPr>
              <a:t>M — MAKE · MUSTAQIL YOZAMIZ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Endi o'zingiz yozasiz — 15 daqiqa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42032"/>
            <a:ext cx="3411626" cy="50292"/>
          </a:xfrm>
          <a:prstGeom prst="rect">
            <a:avLst/>
          </a:prstGeom>
          <a:solidFill>
            <a:srgbClr val="6E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78408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C27A"/>
                </a:solidFill>
                <a:latin typeface="Montserrat"/>
              </a:rPr>
              <a:t>OSON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«Hisob» classi: balansni faqat metod orqali o'zgartirsa bo'lsin.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4390034" y="2542032"/>
            <a:ext cx="3411626" cy="50292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682642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O'RTA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2642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«Harorat» classi: -273 dan past qiymatni rad etsin (@setter).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542032"/>
            <a:ext cx="3411626" cy="32461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094268" y="2542032"/>
            <a:ext cx="3411626" cy="50292"/>
          </a:xfrm>
          <a:prstGeom prst="rect">
            <a:avLst/>
          </a:prstGeom>
          <a:solidFill>
            <a:srgbClr val="E06C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386876" y="2852928"/>
            <a:ext cx="282641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E06C6C"/>
                </a:solidFill>
                <a:latin typeface="Montserrat"/>
              </a:rPr>
              <a:t>QIYIN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6876" y="3255264"/>
            <a:ext cx="2826410" cy="2240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«Talaba» classi: to'liq_ism @property bo'lsin (ism + familiya).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06C6C"/>
                </a:solidFill>
                <a:latin typeface="Montserrat"/>
              </a:rPr>
              <a:t>EHTIYOT BO'LING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Shu 3 ta xato eng ko'p uchraydi — oldindan bilib qo'ying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68680" y="257860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@property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balans(self):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self.balans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1050" y="2487168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293930" y="257860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3930" y="2816352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@property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balans(self):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    return self._balans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36301" y="2487168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Bir xil nom ishlatilsa — cheksiz rekursiya. Ichki nom _ bilan.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68680" y="3806952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h._balans = -500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1050" y="3715512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4293930" y="3806952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3930" y="4044696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h.balans = -500  # setter tekshiradi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36301" y="3715512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_ bilan boshlangan atributga to'g'ridan-to'g'ri tegish — kelishuvni buzish.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E06C6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035296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E06C6C"/>
                </a:solidFill>
                <a:latin typeface="Montserrat"/>
              </a:rPr>
              <a:t>✗ XATO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@balans.setter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set_balans(self, v):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1050" y="4943856"/>
            <a:ext cx="3169218" cy="1045464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6EC27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293930" y="5035296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6EC27A"/>
                </a:solidFill>
                <a:latin typeface="Montserrat"/>
              </a:rPr>
              <a:t>✓ TO'G'RI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3930" y="5273040"/>
            <a:ext cx="2803458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@balans.setter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FFFFFF"/>
                </a:solidFill>
                <a:latin typeface="DejaVu Sans Mono"/>
              </a:rPr>
              <a:t>def balans(self, v):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36301" y="4943856"/>
            <a:ext cx="3969593" cy="10454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9A9AA6"/>
                </a:solidFill>
                <a:latin typeface="Montserrat"/>
              </a:rPr>
              <a:t>Setter metodining nomi property bilan bir xil bo'lishi shart.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TEKSHIRUV · 5 DAQIQA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Qisqa savol-javob — bugun va oldingi mavzular aralash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87168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60120" y="2487168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487168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_atribut va __atribut farqi nima?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31376" y="2650845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16859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0120" y="3216859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216859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@property nima qiladi?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31376" y="3380536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46550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0120" y="3946550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3946550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Setter'siz property nima bo'ladi?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31376" y="4110228"/>
            <a:ext cx="790956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bugun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76241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0120" y="4676241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676241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super() nima uchun kerak?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31376" y="4839919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405932"/>
            <a:ext cx="10820095" cy="583387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60120" y="5405932"/>
            <a:ext cx="457200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9A961"/>
                </a:solidFill>
                <a:latin typeface="Montserrat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5405932"/>
            <a:ext cx="7894015" cy="58338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Montserrat"/>
              </a:rPr>
              <a:t>__str__ qachon chaqiriladi?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31376" y="5569610"/>
            <a:ext cx="946404" cy="256032"/>
          </a:xfrm>
          <a:prstGeom prst="roundRect">
            <a:avLst>
              <a:gd name="adj" fmla="val 50000"/>
            </a:avLst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9A9AA6"/>
                </a:solidFill>
                <a:latin typeface="Montserrat"/>
              </a:rPr>
              <a:t>dars 27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XULOSA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Bugundan eslab qolishingiz kerak bo'lgan 3 narsa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96696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96696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96696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_atribut — «ichki, tegmang» kelishuvi. Python majburlamaydi.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90034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700930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00930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4700930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@property metodni qavssiz o'qish imkonini beradi. Setter'siz — read-only.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4268" y="2606040"/>
            <a:ext cx="3411626" cy="306324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405164" y="2916936"/>
            <a:ext cx="278983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A8894A"/>
                </a:solidFill>
                <a:latin typeface="Montserrat"/>
              </a:rPr>
              <a:t>03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405164" y="3648455"/>
            <a:ext cx="640080" cy="1905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405164" y="3904488"/>
            <a:ext cx="2789834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Montserrat"/>
              </a:rPr>
              <a:t>@setter ichida tekshiruv qo'yiladi — noto'g'ri qiymat rad etiladi (raise).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91072"/>
            <a:ext cx="10820095" cy="9525"/>
          </a:xfrm>
          <a:prstGeom prst="rect">
            <a:avLst/>
          </a:prstGeom>
          <a:solidFill>
            <a:srgbClr val="2A2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85800" y="6400800"/>
            <a:ext cx="8229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Python Backend · OOP · Dars 29/96 — Encapsulation &amp; Abstraction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08615" y="6400800"/>
            <a:ext cx="10972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6A6A76"/>
                </a:solidFill>
                <a:latin typeface="Montserrat"/>
              </a:rP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96012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UY VAZIFASI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298448"/>
            <a:ext cx="1082009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Montserrat"/>
              </a:rPr>
              <a:t>Keyingi darsgacha bajarasiz — birga tekshiramiz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6708458" cy="338328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685800" y="2514600"/>
            <a:ext cx="41148" cy="338328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51560" y="2788920"/>
            <a:ext cx="597693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ASOSIY TOPSHIRIQ · 60%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227832"/>
            <a:ext cx="5976938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0" i="0">
                <a:solidFill>
                  <a:srgbClr val="FFFFFF"/>
                </a:solidFill>
                <a:latin typeface="Montserrat"/>
              </a:rPr>
              <a:t>Bank hisobi (balansni himoyalash) classi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23442" y="2514600"/>
            <a:ext cx="3782452" cy="3383280"/>
          </a:xfrm>
          <a:prstGeom prst="roundRect">
            <a:avLst>
              <a:gd name="adj" fmla="val 4500"/>
            </a:avLst>
          </a:prstGeom>
          <a:solidFill>
            <a:srgbClr val="1A1A1A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016050" y="2788920"/>
            <a:ext cx="319723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A9AA6"/>
                </a:solidFill>
                <a:latin typeface="Montserrat"/>
              </a:rPr>
              <a:t>TAKRORLASH · 40%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16050" y="3227832"/>
            <a:ext cx="3197236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28: Inheritance (meros) — 3 ta misolni qayta yozing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26: Atribut va metod — konspektni o'qib chiqing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Dars 17: Funksiyalar 2 — eski kodni qayta ishga tushiring</a:t>
            </a:r>
          </a:p>
          <a:p>
            <a:pPr algn="l" marL="182880" indent="-182880">
              <a:lnSpc>
                <a:spcPct val="128000"/>
              </a:lnSpc>
              <a:spcBef>
                <a:spcPts val="0"/>
              </a:spcBef>
              <a:spcAft>
                <a:spcPts val="825"/>
              </a:spcAft>
            </a:pPr>
            <a:r>
              <a:rPr sz="1100" b="1" i="0">
                <a:solidFill>
                  <a:srgbClr val="A8894A"/>
                </a:solidFill>
                <a:latin typeface="Montserrat"/>
              </a:rPr>
              <a:t>▢  </a:t>
            </a:r>
            <a:r>
              <a:rPr sz="1100" b="0" i="0">
                <a:solidFill>
                  <a:srgbClr val="9A9AA6"/>
                </a:solidFill>
                <a:latin typeface="Montserrat"/>
              </a:rPr>
              <a:t>Tushunmagan joyni yozib keling — darsda so'raysiz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6053328"/>
            <a:ext cx="1082009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6A6A76"/>
                </a:solidFill>
                <a:latin typeface="Montserrat"/>
              </a:rPr>
              <a:t>Topshiriqni GitHub yoki Telegram guruhga yuklang. Kechikkan ish ham qabul qilinadi — lekin darsda tekshirilmaydi.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0F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log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5271" y="274320"/>
            <a:ext cx="420624" cy="42062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74175" y="365760"/>
            <a:ext cx="17830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C9A961"/>
                </a:solidFill>
                <a:latin typeface="Montserrat"/>
              </a:rPr>
              <a:t>Shanghai School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0120" y="1463040"/>
            <a:ext cx="9905695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9A961"/>
                </a:solidFill>
                <a:latin typeface="Montserrat"/>
              </a:rPr>
              <a:t>KEYINGI DARS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20240"/>
            <a:ext cx="87782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Montserrat"/>
              </a:rPr>
              <a:t>Polymorphism &amp; Magic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3520440"/>
            <a:ext cx="8778240" cy="1417320"/>
          </a:xfrm>
          <a:prstGeom prst="roundRect">
            <a:avLst>
              <a:gd name="adj" fmla="val 4500"/>
            </a:avLst>
          </a:prstGeom>
          <a:solidFill>
            <a:srgbClr val="16161C"/>
          </a:solidFill>
          <a:ln w="12700">
            <a:solidFill>
              <a:srgbClr val="3A3A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960120" y="3520440"/>
            <a:ext cx="41148" cy="1417320"/>
          </a:xfrm>
          <a:prstGeom prst="rect">
            <a:avLst/>
          </a:prstGeom>
          <a:solidFill>
            <a:srgbClr val="C9A9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1325880" y="3730752"/>
            <a:ext cx="8046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961"/>
                </a:solidFill>
                <a:latin typeface="Montserrat"/>
              </a:rPr>
              <a:t>O'YLAB KELING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059936"/>
            <a:ext cx="80467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Montserrat"/>
              </a:rPr>
              <a:t>Kvadrat ham, doira ham «shakl». Ikkalasiga bir xil yuza() deb murojaat qilsa bo'ladimi — ichki hisob boshqacha bo'lsa ham?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57784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9A9AA6"/>
                </a:solidFill>
                <a:latin typeface="Montserrat"/>
              </a:rPr>
              <a:t>Savollaringiz bo'lsa — hoziroq so'rang.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5989320"/>
            <a:ext cx="87782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6A6A76"/>
                </a:solidFill>
                <a:latin typeface="Montserrat"/>
              </a:rPr>
              <a:t>Shanghai School · Python Backend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Dars 29: Encapsulation &amp; Abstraction</dc:title>
  <dc:subject>Python Backend Dasturlash</dc:subject>
  <dc:creator>Shanghai School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OOP</cp:category>
</cp:coreProperties>
</file>